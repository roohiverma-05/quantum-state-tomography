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60" r:id="rId3"/>
    <p:sldId id="262" r:id="rId4"/>
    <p:sldId id="270" r:id="rId5"/>
    <p:sldId id="264" r:id="rId6"/>
    <p:sldId id="265" r:id="rId7"/>
    <p:sldId id="273" r:id="rId8"/>
    <p:sldId id="275" r:id="rId9"/>
    <p:sldId id="277" r:id="rId10"/>
    <p:sldId id="279" r:id="rId11"/>
    <p:sldId id="280" r:id="rId12"/>
    <p:sldId id="281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4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986C3-D98D-4634-AECB-9019323A2541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A74D4-F41C-4A9E-B1A0-79D74D887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280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2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3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89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10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76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60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39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3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18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31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745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4903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654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933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94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342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713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62341-DB15-4CB6-AB6A-D70982944E37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8FC97-F37B-4807-9C36-08A85C4A5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768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uJqOmeSxVj4?feature=oembed" TargetMode="External"/><Relationship Id="rId1" Type="http://schemas.openxmlformats.org/officeDocument/2006/relationships/video" Target="https://www.youtube.com/embed/JpJZmi-JRGY?feature=oembed" TargetMode="Externa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E814-FE73-0502-724D-827C82586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365" y="2020014"/>
            <a:ext cx="11123270" cy="1527858"/>
          </a:xfrm>
          <a:noFill/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Quantum State Tomography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E3FDB-92C1-4AC5-2847-9235C94ED6C2}"/>
              </a:ext>
            </a:extLst>
          </p:cNvPr>
          <p:cNvSpPr txBox="1"/>
          <p:nvPr/>
        </p:nvSpPr>
        <p:spPr>
          <a:xfrm>
            <a:off x="1974949" y="4226630"/>
            <a:ext cx="57873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accent1"/>
                </a:solidFill>
                <a:latin typeface="Consolas" panose="020B0609020204030204" pitchFamily="49" charset="0"/>
              </a:rPr>
              <a:t>Roohi Verma </a:t>
            </a:r>
          </a:p>
          <a:p>
            <a:pPr algn="just"/>
            <a:endParaRPr lang="en-IN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algn="just"/>
            <a:r>
              <a:rPr lang="en-IN" b="1" dirty="0">
                <a:solidFill>
                  <a:schemeClr val="accent1"/>
                </a:solidFill>
                <a:latin typeface="Consolas" panose="020B0609020204030204" pitchFamily="49" charset="0"/>
              </a:rPr>
              <a:t>Supervisor: </a:t>
            </a:r>
            <a:r>
              <a:rPr lang="en-IN" dirty="0">
                <a:latin typeface="Consolas" panose="020B0609020204030204" pitchFamily="49" charset="0"/>
              </a:rPr>
              <a:t>Prof. Arvind </a:t>
            </a:r>
          </a:p>
          <a:p>
            <a:pPr algn="just"/>
            <a:endParaRPr lang="en-IN" dirty="0">
              <a:latin typeface="Consolas" panose="020B0609020204030204" pitchFamily="49" charset="0"/>
            </a:endParaRPr>
          </a:p>
          <a:p>
            <a:pPr algn="just"/>
            <a:r>
              <a:rPr lang="en-IN" dirty="0">
                <a:latin typeface="Consolas" panose="020B0609020204030204" pitchFamily="49" charset="0"/>
              </a:rPr>
              <a:t>Second Year Student</a:t>
            </a:r>
          </a:p>
          <a:p>
            <a:pPr algn="just"/>
            <a:r>
              <a:rPr lang="en-IN" dirty="0">
                <a:latin typeface="Consolas" panose="020B0609020204030204" pitchFamily="49" charset="0"/>
              </a:rPr>
              <a:t>Physics and Math Pre-major, IISER Mohali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2BAD9-FD92-937D-6CFE-91C1C3584624}"/>
              </a:ext>
            </a:extLst>
          </p:cNvPr>
          <p:cNvSpPr txBox="1"/>
          <p:nvPr/>
        </p:nvSpPr>
        <p:spPr>
          <a:xfrm>
            <a:off x="11322447" y="64008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1/13</a:t>
            </a:r>
          </a:p>
        </p:txBody>
      </p:sp>
    </p:spTree>
    <p:extLst>
      <p:ext uri="{BB962C8B-B14F-4D97-AF65-F5344CB8AC3E}">
        <p14:creationId xmlns:p14="http://schemas.microsoft.com/office/powerpoint/2010/main" val="258468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8A40-6CF4-EA27-07C8-295BF233022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Generation of identical ensemble of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D1F56-5F39-69B5-4B78-B5A2DAAE67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000" dirty="0">
                    <a:latin typeface="Consolas" panose="020B0609020204030204" pitchFamily="49" charset="0"/>
                  </a:rPr>
                  <a:t>Step 1: </a:t>
                </a:r>
              </a:p>
              <a:p>
                <a:pPr marL="457200" lvl="1" indent="0">
                  <a:buNone/>
                </a:pPr>
                <a:r>
                  <a:rPr lang="en-IN" sz="1800" dirty="0">
                    <a:latin typeface="Consolas" panose="020B0609020204030204" pitchFamily="49" charset="0"/>
                  </a:rPr>
                  <a:t>Due to the </a:t>
                </a:r>
                <a:r>
                  <a:rPr lang="en-IN" sz="1800" b="1" dirty="0">
                    <a:latin typeface="Consolas" panose="020B0609020204030204" pitchFamily="49" charset="0"/>
                  </a:rPr>
                  <a:t>stochastic nature of quantum measurements </a:t>
                </a:r>
                <a:r>
                  <a:rPr lang="en-IN" sz="1800" dirty="0">
                    <a:latin typeface="Consolas" panose="020B0609020204030204" pitchFamily="49" charset="0"/>
                  </a:rPr>
                  <a:t>a single pure state won’t help in determining the state that it exists in. </a:t>
                </a:r>
              </a:p>
              <a:p>
                <a:pPr marL="457200" lvl="1" indent="0">
                  <a:buNone/>
                </a:pPr>
                <a:endParaRPr lang="en-IN" sz="1800" dirty="0">
                  <a:latin typeface="Consolas" panose="020B0609020204030204" pitchFamily="49" charset="0"/>
                </a:endParaRPr>
              </a:p>
              <a:p>
                <a:pPr marL="457200" lvl="1" indent="0">
                  <a:buNone/>
                </a:pPr>
                <a:r>
                  <a:rPr lang="en-IN" sz="1800" dirty="0">
                    <a:latin typeface="Consolas" panose="020B0609020204030204" pitchFamily="49" charset="0"/>
                  </a:rPr>
                  <a:t>Generate an ensemble of identical states using a source. Since all the individual states are identical it is a pure state and not a mixed state. </a:t>
                </a:r>
              </a:p>
              <a:p>
                <a:pPr marL="457200" lvl="1" indent="0">
                  <a:buNone/>
                </a:pPr>
                <a:endParaRPr lang="en-IN" sz="1800" dirty="0">
                  <a:latin typeface="Consolas" panose="020B0609020204030204" pitchFamily="49" charset="0"/>
                </a:endParaRPr>
              </a:p>
              <a:p>
                <a:pPr marL="457200" lvl="1" indent="0">
                  <a:buNone/>
                </a:pPr>
                <a:r>
                  <a:rPr lang="en-IN" sz="1800" dirty="0">
                    <a:latin typeface="Consolas" panose="020B0609020204030204" pitchFamily="49" charset="0"/>
                  </a:rPr>
                  <a:t>The goal is to generate a density matrix </a:t>
                </a:r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b="1" dirty="0">
                    <a:latin typeface="Consolas" panose="020B0609020204030204" pitchFamily="49" charset="0"/>
                  </a:rPr>
                  <a:t> </a:t>
                </a:r>
                <a:r>
                  <a:rPr lang="en-IN" sz="1800" dirty="0">
                    <a:latin typeface="Consolas" panose="020B0609020204030204" pitchFamily="49" charset="0"/>
                  </a:rPr>
                  <a:t>at the end of the protocol as the state is unknown. This is done via measurement basis (Pauli X,Y,Z)</a:t>
                </a:r>
              </a:p>
              <a:p>
                <a:pPr marL="457200" lvl="1" indent="0">
                  <a:buNone/>
                </a:pPr>
                <a:endParaRPr lang="en-IN" sz="1600" dirty="0">
                  <a:latin typeface="Consolas" panose="020B0609020204030204" pitchFamily="49" charset="0"/>
                </a:endParaRPr>
              </a:p>
              <a:p>
                <a:pPr marL="457200" lvl="1" indent="0">
                  <a:buNone/>
                </a:pPr>
                <a:endParaRPr lang="en-IN" sz="16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D1F56-5F39-69B5-4B78-B5A2DAAE67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7" t="-1515" r="-1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B8DA2CC-44C0-D5DC-49EE-DF33EB7174FF}"/>
              </a:ext>
            </a:extLst>
          </p:cNvPr>
          <p:cNvSpPr txBox="1"/>
          <p:nvPr/>
        </p:nvSpPr>
        <p:spPr>
          <a:xfrm>
            <a:off x="11322447" y="64008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1009781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9DC6-CE68-B930-D2B9-4771794D3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3F938-6418-7B8F-622D-183F5D8DC3A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Choosing a measurement 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419AE-82A8-9E76-398E-B24DEBE83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latin typeface="Consolas" panose="020B0609020204030204" pitchFamily="49" charset="0"/>
              </a:rPr>
              <a:t>Step 2:</a:t>
            </a:r>
          </a:p>
          <a:p>
            <a:pPr marL="457200" lvl="1" indent="0" algn="just">
              <a:buNone/>
            </a:pPr>
            <a:r>
              <a:rPr lang="en-IN" sz="1600" dirty="0">
                <a:latin typeface="Consolas" panose="020B0609020204030204" pitchFamily="49" charset="0"/>
              </a:rPr>
              <a:t>Choosing a measurement basis which is </a:t>
            </a:r>
            <a:r>
              <a:rPr lang="en-IN" sz="1600" dirty="0" err="1">
                <a:latin typeface="Consolas" panose="020B0609020204030204" pitchFamily="49" charset="0"/>
              </a:rPr>
              <a:t>tomographically</a:t>
            </a:r>
            <a:r>
              <a:rPr lang="en-IN" sz="1600" dirty="0">
                <a:latin typeface="Consolas" panose="020B0609020204030204" pitchFamily="49" charset="0"/>
              </a:rPr>
              <a:t> complete.</a:t>
            </a:r>
          </a:p>
          <a:p>
            <a:pPr marL="457200" lvl="1" indent="0" algn="just">
              <a:buNone/>
            </a:pPr>
            <a:r>
              <a:rPr lang="en-IN" sz="1600" dirty="0">
                <a:latin typeface="Consolas" panose="020B0609020204030204" pitchFamily="49" charset="0"/>
              </a:rPr>
              <a:t>Measurements can’t be done simultaneously on one state;</a:t>
            </a:r>
            <a:r>
              <a:rPr lang="en-US" sz="1600" dirty="0"/>
              <a:t> </a:t>
            </a:r>
            <a:r>
              <a:rPr lang="en-US" sz="1600" dirty="0">
                <a:latin typeface="Consolas" panose="020B0609020204030204" pitchFamily="49" charset="0"/>
              </a:rPr>
              <a:t>you measure many copies in each basis separately.</a:t>
            </a:r>
            <a:r>
              <a:rPr lang="en-IN" sz="1600" dirty="0">
                <a:latin typeface="Consolas" panose="020B0609020204030204" pitchFamily="49" charset="0"/>
              </a:rPr>
              <a:t> For each basis, perform the measurement multiple times to get a sample space of </a:t>
            </a:r>
            <a:r>
              <a:rPr lang="en-IN" sz="1600" b="1" i="1" dirty="0">
                <a:latin typeface="Consolas" panose="020B0609020204030204" pitchFamily="49" charset="0"/>
              </a:rPr>
              <a:t>shots.</a:t>
            </a:r>
          </a:p>
          <a:p>
            <a:pPr marL="457200" lvl="1" indent="0" algn="just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457200" lvl="1" indent="0" algn="just">
              <a:buNone/>
            </a:pPr>
            <a:r>
              <a:rPr lang="en-IN" sz="1600" b="1" i="1" dirty="0">
                <a:latin typeface="Consolas" panose="020B0609020204030204" pitchFamily="49" charset="0"/>
              </a:rPr>
              <a:t>Measurement in Pauli basis X,Y, and Z:</a:t>
            </a:r>
          </a:p>
          <a:p>
            <a:pPr marL="457200" lvl="1" indent="0" algn="just">
              <a:buNone/>
            </a:pPr>
            <a:r>
              <a:rPr lang="en-IN" sz="1600" dirty="0">
                <a:latin typeface="Consolas" panose="020B0609020204030204" pitchFamily="49" charset="0"/>
              </a:rPr>
              <a:t>The measurement is done in Z basis. Hardware cannot directly measure along X and Y basis so a unitary matrix that transforms X(Y) to Z basis and the obtained result can then be mapped back to X(Y) measurements. </a:t>
            </a:r>
          </a:p>
          <a:p>
            <a:pPr marL="457200" lvl="1" indent="0" algn="just">
              <a:buNone/>
            </a:pPr>
            <a:r>
              <a:rPr lang="en-IN" sz="1600" dirty="0">
                <a:latin typeface="Consolas" panose="020B0609020204030204" pitchFamily="49" charset="0"/>
              </a:rPr>
              <a:t>To measure X basis: Apply the H gate </a:t>
            </a:r>
          </a:p>
          <a:p>
            <a:pPr marL="457200" lvl="1" indent="0" algn="just">
              <a:buNone/>
            </a:pPr>
            <a:r>
              <a:rPr lang="en-IN" sz="1600" dirty="0">
                <a:latin typeface="Consolas" panose="020B0609020204030204" pitchFamily="49" charset="0"/>
              </a:rPr>
              <a:t>Y basis: Apply the S(dagger) gate and H gate.</a:t>
            </a:r>
          </a:p>
          <a:p>
            <a:pPr marL="457200" lvl="1" indent="0" algn="just">
              <a:buNone/>
            </a:pPr>
            <a:r>
              <a:rPr lang="en-IN" sz="1600" dirty="0">
                <a:latin typeface="Consolas" panose="020B0609020204030204" pitchFamily="49" charset="0"/>
              </a:rPr>
              <a:t>Z basis: default computational basis. </a:t>
            </a:r>
          </a:p>
          <a:p>
            <a:pPr marL="457200" lvl="1" indent="0" algn="just">
              <a:buNone/>
            </a:pPr>
            <a:endParaRPr lang="en-IN" sz="1600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0ABB6-8B20-55C9-83A2-6418AD02C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688" y="4392914"/>
            <a:ext cx="4916424" cy="22554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6D4B-CBC4-75E8-120C-F17600DEC285}"/>
              </a:ext>
            </a:extLst>
          </p:cNvPr>
          <p:cNvSpPr txBox="1"/>
          <p:nvPr/>
        </p:nvSpPr>
        <p:spPr>
          <a:xfrm>
            <a:off x="627888" y="6355844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3/13</a:t>
            </a:r>
          </a:p>
        </p:txBody>
      </p:sp>
    </p:spTree>
    <p:extLst>
      <p:ext uri="{BB962C8B-B14F-4D97-AF65-F5344CB8AC3E}">
        <p14:creationId xmlns:p14="http://schemas.microsoft.com/office/powerpoint/2010/main" val="2931427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FC48FC-9346-4B19-831D-27EA48F73C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052756"/>
              </p:ext>
            </p:extLst>
          </p:nvPr>
        </p:nvGraphicFramePr>
        <p:xfrm>
          <a:off x="911352" y="1816481"/>
          <a:ext cx="10515600" cy="4084284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6835269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422443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21869102"/>
                    </a:ext>
                  </a:extLst>
                </a:gridCol>
                <a:gridCol w="976884">
                  <a:extLst>
                    <a:ext uri="{9D8B030D-6E8A-4147-A177-3AD203B41FA5}">
                      <a16:colId xmlns:a16="http://schemas.microsoft.com/office/drawing/2014/main" val="3007809400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1611683917"/>
                    </a:ext>
                  </a:extLst>
                </a:gridCol>
              </a:tblGrid>
              <a:tr h="368972">
                <a:tc>
                  <a:txBody>
                    <a:bodyPr/>
                    <a:lstStyle/>
                    <a:p>
                      <a:r>
                        <a:rPr lang="en-IN" sz="1600" dirty="0"/>
                        <a:t>Measurement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Eigenstates Associated to the Measurement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Eigenvalues associated to the Measurement Basis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Transformation of the Eigenstates to the Z basis Eigenstates for Hardware Compatibility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899455"/>
                  </a:ext>
                </a:extLst>
              </a:tr>
              <a:tr h="368972">
                <a:tc>
                  <a:txBody>
                    <a:bodyPr/>
                    <a:lstStyle/>
                    <a:p>
                      <a:r>
                        <a:rPr lang="en-IN" sz="1600" dirty="0"/>
                        <a:t>X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∣+⟩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∣0⟩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Applying the H gate on qubits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092530"/>
                  </a:ext>
                </a:extLst>
              </a:tr>
              <a:tr h="636856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∣−⟩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∣1⟩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044582"/>
                  </a:ext>
                </a:extLst>
              </a:tr>
              <a:tr h="368972">
                <a:tc>
                  <a:txBody>
                    <a:bodyPr/>
                    <a:lstStyle/>
                    <a:p>
                      <a:r>
                        <a:rPr lang="en-IN" sz="1600" dirty="0"/>
                        <a:t>Y basis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∣</a:t>
                      </a:r>
                      <a:r>
                        <a:rPr lang="en-IN" sz="1600" dirty="0" err="1"/>
                        <a:t>i</a:t>
                      </a:r>
                      <a:r>
                        <a:rPr lang="en-IN" sz="1600" dirty="0"/>
                        <a:t>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∣0⟩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sz="1600" dirty="0"/>
                        <a:t>Applying the </a:t>
                      </a:r>
                      <a:r>
                        <a:rPr lang="en-IN" sz="1600" b="0" dirty="0"/>
                        <a:t>S† and H on qubits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844"/>
                  </a:ext>
                </a:extLst>
              </a:tr>
              <a:tr h="636856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∣−</a:t>
                      </a:r>
                      <a:r>
                        <a:rPr lang="en-IN" sz="1600" dirty="0" err="1"/>
                        <a:t>i</a:t>
                      </a:r>
                      <a:r>
                        <a:rPr lang="en-IN" sz="1600" dirty="0"/>
                        <a:t>⟩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∣1⟩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174115"/>
                  </a:ext>
                </a:extLst>
              </a:tr>
              <a:tr h="368972">
                <a:tc>
                  <a:txBody>
                    <a:bodyPr/>
                    <a:lstStyle/>
                    <a:p>
                      <a:r>
                        <a:rPr lang="en-IN" sz="1600" dirty="0"/>
                        <a:t>Z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∣0⟩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∣0⟩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sz="1600" dirty="0"/>
                        <a:t>The computational basis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91493"/>
                  </a:ext>
                </a:extLst>
              </a:tr>
              <a:tr h="636856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∣1⟩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∣1⟩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75504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3FE7390-DB9D-0FFF-6169-701112945FF0}"/>
              </a:ext>
            </a:extLst>
          </p:cNvPr>
          <p:cNvSpPr txBox="1"/>
          <p:nvPr/>
        </p:nvSpPr>
        <p:spPr>
          <a:xfrm>
            <a:off x="11322447" y="64008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4/13</a:t>
            </a:r>
          </a:p>
        </p:txBody>
      </p:sp>
    </p:spTree>
    <p:extLst>
      <p:ext uri="{BB962C8B-B14F-4D97-AF65-F5344CB8AC3E}">
        <p14:creationId xmlns:p14="http://schemas.microsoft.com/office/powerpoint/2010/main" val="2503785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1347-718D-DD2A-B065-D70DA4E4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8B38-F662-3453-AF71-EAC3A167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  <a:noFill/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ESTIMATION OF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F657AA-CC47-E4E8-028C-94DAEB2765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000" dirty="0">
                    <a:latin typeface="Consolas" panose="020B0609020204030204" pitchFamily="49" charset="0"/>
                  </a:rPr>
                  <a:t>Step 3: </a:t>
                </a:r>
              </a:p>
              <a:p>
                <a:pPr marL="457200" lvl="1" indent="0">
                  <a:buNone/>
                </a:pPr>
                <a:r>
                  <a:rPr lang="en-IN" sz="1800" dirty="0">
                    <a:latin typeface="Consolas" panose="020B0609020204030204" pitchFamily="49" charset="0"/>
                  </a:rPr>
                  <a:t>Estimate the outcome probabilities (empirical probabilities defined by frequency)</a:t>
                </a:r>
                <a:r>
                  <a:rPr lang="en-IN" sz="1800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 experimentally determined values </a:t>
                </a:r>
                <a:endParaRPr lang="en-IN" sz="1600" dirty="0">
                  <a:latin typeface="Consolas" panose="020B0609020204030204" pitchFamily="49" charset="0"/>
                </a:endParaRP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IN" sz="18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18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I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here b ∈ {X, Y, Z} and </a:t>
                </a:r>
                <a:r>
                  <a:rPr lang="en-IN" sz="18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I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∈ {0,1} </a:t>
                </a:r>
              </a:p>
              <a:p>
                <a:pPr marL="457200" lvl="1" indent="0" algn="ctr">
                  <a:buNone/>
                </a:pPr>
                <a:endParaRPr lang="en-I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r>
                  <a:rPr lang="en-IN" sz="18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The true probabilities of the likelihood of getting an eigenvalue for the respective basis: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Sup>
                        <m:sSubSupPr>
                          <m:ctrlP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l-GR" sz="1800"/>
                            <m:t>Π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800" dirty="0"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r>
                  <a:rPr lang="en-IN" sz="18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 </a:t>
                </a:r>
                <a:endParaRPr lang="en-I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IN" sz="1800" dirty="0">
                    <a:latin typeface="Consolas" panose="020B0609020204030204" pitchFamily="49" charset="0"/>
                  </a:rPr>
                  <a:t>For each measurement basis there are two projectors, one for outcome 0 and one for 1.</a:t>
                </a:r>
              </a:p>
              <a:p>
                <a:pPr marL="457200" lvl="1" indent="0">
                  <a:buNone/>
                </a:pPr>
                <a:r>
                  <a:rPr lang="en-IN" sz="1800" dirty="0">
                    <a:latin typeface="Consolas" panose="020B0609020204030204" pitchFamily="49" charset="0"/>
                  </a:rPr>
                  <a:t>These probabilities depend on unknown state </a:t>
                </a: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>
                    <a:latin typeface="Consolas" panose="020B0609020204030204" pitchFamily="49" charset="0"/>
                  </a:rPr>
                  <a:t> that we want to find.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F657AA-CC47-E4E8-028C-94DAEB2765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7" t="-1515" r="-4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078461B-3D35-2BEA-99F7-62A49F88706B}"/>
              </a:ext>
            </a:extLst>
          </p:cNvPr>
          <p:cNvSpPr txBox="1"/>
          <p:nvPr/>
        </p:nvSpPr>
        <p:spPr>
          <a:xfrm>
            <a:off x="11322447" y="64008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5/13</a:t>
            </a:r>
          </a:p>
        </p:txBody>
      </p:sp>
    </p:spTree>
    <p:extLst>
      <p:ext uri="{BB962C8B-B14F-4D97-AF65-F5344CB8AC3E}">
        <p14:creationId xmlns:p14="http://schemas.microsoft.com/office/powerpoint/2010/main" val="129467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CFD8-7227-7F32-C6AD-D7BE882F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F1313-9BE2-24E3-F489-7FF8AF78BE8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CONSTRAINTS ON A DENSITY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A209CF-D989-1875-F269-880DF4B832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000" dirty="0">
                    <a:latin typeface="Consolas" panose="020B0609020204030204" pitchFamily="49" charset="0"/>
                  </a:rPr>
                  <a:t>Step 4: </a:t>
                </a:r>
              </a:p>
              <a:p>
                <a:pPr marL="457200" lvl="1" indent="0">
                  <a:buNone/>
                </a:pPr>
                <a:r>
                  <a:rPr lang="en-IN" sz="1800" dirty="0">
                    <a:latin typeface="Consolas" panose="020B0609020204030204" pitchFamily="49" charset="0"/>
                  </a:rPr>
                  <a:t>Define a density matrix. The density matrix we have to identify must be:</a:t>
                </a:r>
              </a:p>
              <a:p>
                <a:pPr marL="1257300" lvl="2" indent="-342900">
                  <a:buAutoNum type="arabicPeriod"/>
                </a:pPr>
                <a:r>
                  <a:rPr lang="en-IN" sz="1800" dirty="0">
                    <a:latin typeface="Consolas" panose="020B0609020204030204" pitchFamily="49" charset="0"/>
                  </a:rPr>
                  <a:t>Positive Semidefinite</a:t>
                </a:r>
              </a:p>
              <a:p>
                <a:pPr marL="1257300" lvl="2" indent="-342900">
                  <a:buAutoNum type="arabicPeriod"/>
                </a:pPr>
                <a:r>
                  <a:rPr lang="en-IN" sz="1800" dirty="0">
                    <a:latin typeface="Consolas" panose="020B0609020204030204" pitchFamily="49" charset="0"/>
                  </a:rPr>
                  <a:t>Hermitian </a:t>
                </a:r>
              </a:p>
              <a:p>
                <a:pPr marL="1257300" lvl="2" indent="-342900">
                  <a:buAutoNum type="arabicPeriod"/>
                </a:pPr>
                <a:r>
                  <a:rPr lang="en-IN" sz="1800" dirty="0">
                    <a:latin typeface="Consolas" panose="020B0609020204030204" pitchFamily="49" charset="0"/>
                  </a:rPr>
                  <a:t>Trace(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>
                    <a:latin typeface="Consolas" panose="020B0609020204030204" pitchFamily="49" charset="0"/>
                  </a:rPr>
                  <a:t>) = 1</a:t>
                </a:r>
              </a:p>
              <a:p>
                <a:pPr marL="1257300" lvl="2" indent="-342900">
                  <a:buAutoNum type="arabicPeriod"/>
                </a:pPr>
                <a:endParaRPr lang="en-IN" sz="1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A209CF-D989-1875-F269-880DF4B832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7" t="-1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FA70BA-DB3B-7D95-94C2-FBB1679B9452}"/>
                  </a:ext>
                </a:extLst>
              </p:cNvPr>
              <p:cNvSpPr txBox="1"/>
              <p:nvPr/>
            </p:nvSpPr>
            <p:spPr>
              <a:xfrm>
                <a:off x="5260066" y="4206622"/>
                <a:ext cx="1671868" cy="816506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IN"/>
                                <m:t>†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IN"/>
                                <m:t>†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FA70BA-DB3B-7D95-94C2-FBB1679B9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066" y="4206622"/>
                <a:ext cx="1671868" cy="8165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27ADE2E-94B0-3E5C-552D-DEFF2F81693E}"/>
              </a:ext>
            </a:extLst>
          </p:cNvPr>
          <p:cNvSpPr txBox="1"/>
          <p:nvPr/>
        </p:nvSpPr>
        <p:spPr>
          <a:xfrm>
            <a:off x="11322447" y="64008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6/13</a:t>
            </a:r>
          </a:p>
        </p:txBody>
      </p:sp>
    </p:spTree>
    <p:extLst>
      <p:ext uri="{BB962C8B-B14F-4D97-AF65-F5344CB8AC3E}">
        <p14:creationId xmlns:p14="http://schemas.microsoft.com/office/powerpoint/2010/main" val="386319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FD4AFC-6423-90CD-B1CE-224BB4A2D8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9560" y="2228712"/>
                <a:ext cx="3855720" cy="3646356"/>
              </a:xfrm>
              <a:solidFill>
                <a:schemeClr val="accent5"/>
              </a:solidFill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IN" sz="20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Hermitian: The matrix is equivalent to its conjugate transpose. </a:t>
                </a:r>
              </a:p>
              <a:p>
                <a:pPr marL="457200" lvl="1" indent="0" algn="ctr">
                  <a:buNone/>
                </a:pPr>
                <a:r>
                  <a:rPr lang="en-IN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nor/>
                          </m:rPr>
                          <a:rPr lang="en-IN">
                            <a:solidFill>
                              <a:schemeClr val="bg1"/>
                            </a:solidFill>
                          </a:rPr>
                          <m:t>†</m:t>
                        </m:r>
                      </m:sup>
                    </m:sSup>
                    <m:r>
                      <a:rPr lang="en-I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IN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IN" dirty="0">
                    <a:solidFill>
                      <a:schemeClr val="bg1"/>
                    </a:solidFill>
                  </a:rPr>
                  <a:t>			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IN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IN">
                                <a:solidFill>
                                  <a:schemeClr val="bg1"/>
                                </a:solidFill>
                              </a:rPr>
                              <m:t>†</m:t>
                            </m:r>
                          </m:sup>
                        </m:sSup>
                        <m:r>
                          <a:rPr lang="en-I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I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nor/>
                          </m:rPr>
                          <a:rPr lang="en-IN">
                            <a:solidFill>
                              <a:schemeClr val="bg1"/>
                            </a:solidFill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IN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m:rPr>
                            <m:nor/>
                          </m:rPr>
                          <a:rPr lang="en-IN">
                            <a:solidFill>
                              <a:schemeClr val="bg1"/>
                            </a:solidFill>
                          </a:rPr>
                          <m:t>†</m:t>
                        </m:r>
                      </m:sup>
                    </m:sSup>
                    <m:sSup>
                      <m:sSupPr>
                        <m:ctrlPr>
                          <a:rPr lang="en-IN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I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IN">
                                <a:solidFill>
                                  <a:schemeClr val="bg1"/>
                                </a:solidFill>
                              </a:rPr>
                              <m:t>†</m:t>
                            </m:r>
                          </m:sup>
                        </m:sSup>
                        <m:r>
                          <a:rPr lang="en-I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nor/>
                          </m:rPr>
                          <a:rPr lang="en-IN">
                            <a:solidFill>
                              <a:schemeClr val="bg1"/>
                            </a:solidFill>
                          </a:rPr>
                          <m:t>†</m:t>
                        </m:r>
                      </m:sup>
                    </m:sSup>
                    <m:r>
                      <a:rPr lang="en-IN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m:rPr>
                            <m:nor/>
                          </m:rPr>
                          <a:rPr lang="en-IN">
                            <a:solidFill>
                              <a:schemeClr val="bg1"/>
                            </a:solidFill>
                          </a:rPr>
                          <m:t>†</m:t>
                        </m:r>
                      </m:sup>
                    </m:sSup>
                    <m:r>
                      <a:rPr lang="en-I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  <a:p>
                <a:pPr marL="457200" lvl="1" indent="0">
                  <a:buNone/>
                </a:pPr>
                <a:endParaRPr lang="en-IN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m:rPr>
                            <m:nor/>
                          </m:rPr>
                          <a:rPr lang="en-IN">
                            <a:solidFill>
                              <a:schemeClr val="bg1"/>
                            </a:solidFill>
                          </a:rPr>
                          <m:t>†</m:t>
                        </m:r>
                      </m:sup>
                    </m:sSup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is always a Hermitian matrix </a:t>
                </a:r>
              </a:p>
              <a:p>
                <a:pPr marL="457200" lvl="1" indent="0">
                  <a:buNone/>
                </a:pPr>
                <a:endParaRPr lang="en-IN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endParaRPr lang="en-I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FD4AFC-6423-90CD-B1CE-224BB4A2D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9560" y="2228712"/>
                <a:ext cx="3855720" cy="3646356"/>
              </a:xfrm>
              <a:blipFill>
                <a:blip r:embed="rId2"/>
                <a:stretch>
                  <a:fillRect l="-1741" t="-18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70B9F7-766A-FE74-3B5E-6A127F329146}"/>
                  </a:ext>
                </a:extLst>
              </p:cNvPr>
              <p:cNvSpPr txBox="1"/>
              <p:nvPr/>
            </p:nvSpPr>
            <p:spPr>
              <a:xfrm>
                <a:off x="5426957" y="847186"/>
                <a:ext cx="1609351" cy="816506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IN">
                                  <a:solidFill>
                                    <a:schemeClr val="bg1"/>
                                  </a:solidFill>
                                </a:rPr>
                                <m:t>†</m:t>
                              </m:r>
                            </m:sup>
                          </m:sSup>
                          <m:r>
                            <a:rPr lang="en-I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</m:t>
                          </m:r>
                          <m:r>
                            <a:rPr lang="en-I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I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IN">
                                  <a:solidFill>
                                    <a:schemeClr val="bg1"/>
                                  </a:solidFill>
                                </a:rPr>
                                <m:t>†</m:t>
                              </m:r>
                            </m:sup>
                          </m:sSup>
                          <m:r>
                            <a:rPr lang="en-I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I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70B9F7-766A-FE74-3B5E-6A127F329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957" y="847186"/>
                <a:ext cx="1609351" cy="8165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55636DA-082F-A6E8-741E-78130E1A3B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65320" y="2228712"/>
                <a:ext cx="3855720" cy="3656255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sz="20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2. Positive Semi definitive: The matrix which is Hermitian in complex case or symmetric is multiplied by a vector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. It follows: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I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IN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IN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IN" sz="2000" b="0" dirty="0">
                  <a:solidFill>
                    <a:schemeClr val="bg1"/>
                  </a:solidFill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IN" sz="20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Where A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000">
                            <a:solidFill>
                              <a:schemeClr val="bg1"/>
                            </a:solidFill>
                          </a:rPr>
                          <m:t>†</m:t>
                        </m:r>
                      </m:sup>
                    </m:sSup>
                    <m:r>
                      <a:rPr lang="en-I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0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000">
                            <a:solidFill>
                              <a:schemeClr val="bg1"/>
                            </a:solidFill>
                          </a:rPr>
                          <m:t>†</m:t>
                        </m:r>
                      </m:sup>
                    </m:sSup>
                    <m:sSup>
                      <m:sSupPr>
                        <m:ctrlP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000">
                            <a:solidFill>
                              <a:schemeClr val="bg1"/>
                            </a:solidFill>
                          </a:rPr>
                          <m:t>†</m:t>
                        </m:r>
                      </m:sup>
                    </m:sSup>
                    <m:r>
                      <a:rPr lang="en-I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𝑇𝑣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𝑇𝑣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IN" sz="2000">
                            <a:solidFill>
                              <a:schemeClr val="bg1"/>
                            </a:solidFill>
                          </a:rPr>
                          <m:t>†</m:t>
                        </m:r>
                      </m:sup>
                    </m:sSup>
                    <m:d>
                      <m:dPr>
                        <m:ctrlPr>
                          <a:rPr lang="en-IN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𝑇𝑣</m:t>
                        </m:r>
                      </m:e>
                    </m:d>
                    <m:r>
                      <a:rPr lang="en-I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IN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𝑇𝑣</m:t>
                            </m:r>
                          </m:e>
                        </m:d>
                      </m:e>
                      <m:sup>
                        <m:r>
                          <a:rPr lang="en-IN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0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55636DA-082F-A6E8-741E-78130E1A3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320" y="2228712"/>
                <a:ext cx="3855720" cy="3656255"/>
              </a:xfrm>
              <a:prstGeom prst="rect">
                <a:avLst/>
              </a:prstGeom>
              <a:blipFill>
                <a:blip r:embed="rId4"/>
                <a:stretch>
                  <a:fillRect l="-1741" t="-1836" r="-6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AAFD55F-0B0F-3854-60A6-A56435C597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13064" y="2218814"/>
                <a:ext cx="3511296" cy="3656254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000" dirty="0">
                    <a:solidFill>
                      <a:schemeClr val="bg1"/>
                    </a:solidFill>
                    <a:latin typeface="Consolas" panose="020B0609020204030204" pitchFamily="49" charset="0"/>
                    <a:ea typeface="Cambria Math" panose="02040503050406030204" pitchFamily="18" charset="0"/>
                  </a:rPr>
                  <a:t>3. Trace: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IN" sz="2000">
                                  <a:solidFill>
                                    <a:schemeClr val="bg1"/>
                                  </a:solidFill>
                                  <a:latin typeface="Consolas" panose="020B0609020204030204" pitchFamily="49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I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I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</m:t>
                          </m:r>
                          <m:r>
                            <a:rPr lang="en-I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I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IN" sz="2000">
                                  <a:solidFill>
                                    <a:schemeClr val="bg1"/>
                                  </a:solidFill>
                                  <a:latin typeface="Consolas" panose="020B0609020204030204" pitchFamily="49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I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I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0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sz="2000" dirty="0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IN" sz="20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Tr(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) = Tr(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IN" sz="2000">
                                <a:solidFill>
                                  <a:schemeClr val="bg1"/>
                                </a:solidFill>
                                <a:latin typeface="Consolas" panose="020B0609020204030204" pitchFamily="49" charset="0"/>
                              </a:rPr>
                              <m:t>†</m:t>
                            </m:r>
                          </m:sup>
                        </m:sSup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𝑇𝑟</m:t>
                        </m:r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I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IN" sz="2000">
                                <a:solidFill>
                                  <a:schemeClr val="bg1"/>
                                </a:solidFill>
                                <a:latin typeface="Consolas" panose="020B0609020204030204" pitchFamily="49" charset="0"/>
                              </a:rPr>
                              <m:t>†</m:t>
                            </m:r>
                          </m:sup>
                        </m:sSup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𝑇𝑟</m:t>
                        </m:r>
                        <m:r>
                          <a:rPr lang="en-IN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I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IN" sz="2000">
                                <a:solidFill>
                                  <a:schemeClr val="bg1"/>
                                </a:solidFill>
                                <a:latin typeface="Consolas" panose="020B0609020204030204" pitchFamily="49" charset="0"/>
                              </a:rPr>
                              <m:t>†</m:t>
                            </m:r>
                          </m:sup>
                        </m:sSup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IN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𝑇𝑟</m:t>
                        </m:r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I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IN" sz="2000">
                                <a:solidFill>
                                  <a:schemeClr val="bg1"/>
                                </a:solidFill>
                                <a:latin typeface="Consolas" panose="020B0609020204030204" pitchFamily="49" charset="0"/>
                              </a:rPr>
                              <m:t>†</m:t>
                            </m:r>
                          </m:sup>
                        </m:sSup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I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IN" sz="200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 = 1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AAFD55F-0B0F-3854-60A6-A56435C59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064" y="2218814"/>
                <a:ext cx="3511296" cy="3656254"/>
              </a:xfrm>
              <a:prstGeom prst="rect">
                <a:avLst/>
              </a:prstGeom>
              <a:blipFill>
                <a:blip r:embed="rId5"/>
                <a:stretch>
                  <a:fillRect l="-1910" t="-18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186D247-329A-9617-2F25-F4517D4C50B1}"/>
              </a:ext>
            </a:extLst>
          </p:cNvPr>
          <p:cNvSpPr txBox="1"/>
          <p:nvPr/>
        </p:nvSpPr>
        <p:spPr>
          <a:xfrm>
            <a:off x="11322447" y="64008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7/13</a:t>
            </a:r>
          </a:p>
        </p:txBody>
      </p:sp>
    </p:spTree>
    <p:extLst>
      <p:ext uri="{BB962C8B-B14F-4D97-AF65-F5344CB8AC3E}">
        <p14:creationId xmlns:p14="http://schemas.microsoft.com/office/powerpoint/2010/main" val="1395244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517D-7CBB-E053-606E-FF918C55A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  <a:noFill/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ASSUMING PARAMETERS ON A DENSITY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F8952C-1E4B-D6FF-0A7C-08DA349900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2249424"/>
                <a:ext cx="10820400" cy="4024125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IN" sz="1800" dirty="0">
                    <a:latin typeface="Consolas" panose="020B0609020204030204" pitchFamily="49" charset="0"/>
                  </a:rPr>
                  <a:t>The Cholesky Decomposition generates a lower triangular matrix whose product with it’s transpose conjugate gives a matrix A such that A is Hermitian and Semidefinite. </a:t>
                </a:r>
              </a:p>
              <a:p>
                <a:pPr marL="0" indent="0" algn="just">
                  <a:buNone/>
                </a:pPr>
                <a:r>
                  <a:rPr lang="en-IN" sz="1800" dirty="0">
                    <a:latin typeface="Consolas" panose="020B0609020204030204" pitchFamily="49" charset="0"/>
                  </a:rPr>
                  <a:t>So, A=</a:t>
                </a:r>
                <a:r>
                  <a:rPr lang="en-IN" sz="18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1800">
                            <a:latin typeface="Consolas" panose="020B0609020204030204" pitchFamily="49" charset="0"/>
                          </a:rPr>
                          <m:t>†</m:t>
                        </m:r>
                      </m:sup>
                    </m:sSup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sz="1800" dirty="0">
                    <a:latin typeface="Consolas" panose="020B0609020204030204" pitchFamily="49" charset="0"/>
                  </a:rPr>
                  <a:t> here T is a lower triangular matrix </a:t>
                </a:r>
              </a:p>
              <a:p>
                <a:pPr marL="0" indent="0" algn="ctr">
                  <a:buNone/>
                </a:pPr>
                <a:r>
                  <a:rPr lang="en-IN" sz="1800" dirty="0"/>
                  <a:t>T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IN" sz="18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endParaRPr lang="en-IN" sz="18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</m:t>
                      </m:r>
                      <m:r>
                        <a:rPr lang="en-I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Sup>
                        <m:sSubSupPr>
                          <m:ctrlP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l-GR" sz="1800"/>
                            <m:t>Π</m:t>
                          </m:r>
                        </m:e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I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800" dirty="0"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8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 is a function of the parameters t</a:t>
                </a:r>
                <a:r>
                  <a:rPr lang="en-IN" sz="1800" baseline="-250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1 </a:t>
                </a:r>
                <a:r>
                  <a:rPr lang="en-IN" sz="18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,t</a:t>
                </a:r>
                <a:r>
                  <a:rPr lang="en-IN" sz="1800" baseline="-250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2 </a:t>
                </a:r>
                <a:r>
                  <a:rPr lang="en-IN" sz="18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,t</a:t>
                </a:r>
                <a:r>
                  <a:rPr lang="en-IN" sz="1800" baseline="-250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3</a:t>
                </a:r>
                <a:r>
                  <a:rPr lang="en-IN" sz="18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, and t</a:t>
                </a:r>
                <a:r>
                  <a:rPr lang="en-IN" sz="1800" baseline="-250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4</a:t>
                </a:r>
                <a:r>
                  <a:rPr lang="en-IN" sz="18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. </a:t>
                </a:r>
              </a:p>
              <a:p>
                <a:pPr marL="0" indent="0" algn="just">
                  <a:buNone/>
                </a:pPr>
                <a:endParaRPr lang="en-IN" sz="1800" dirty="0"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IN" sz="1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F8952C-1E4B-D6FF-0A7C-08DA349900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249424"/>
                <a:ext cx="10820400" cy="4024125"/>
              </a:xfrm>
              <a:blipFill>
                <a:blip r:embed="rId2"/>
                <a:stretch>
                  <a:fillRect l="-507" t="-1364" r="-4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A4A8748-97DA-BE19-BE47-0798C8E7C5E3}"/>
              </a:ext>
            </a:extLst>
          </p:cNvPr>
          <p:cNvSpPr txBox="1"/>
          <p:nvPr/>
        </p:nvSpPr>
        <p:spPr>
          <a:xfrm>
            <a:off x="11322447" y="64008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294881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13A5D-CB7E-DFA6-5C53-0EB86A90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668000" cy="1293028"/>
          </a:xfrm>
          <a:noFill/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Maximum Likelihood Estimation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E52578-0F96-90F1-682D-D9AC25D5F7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5740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IN" sz="1800" dirty="0">
                    <a:latin typeface="Consolas" panose="020B0609020204030204" pitchFamily="49" charset="0"/>
                  </a:rPr>
                  <a:t>It is a statistical method to check the consistency of assumed parameters with the observed data. </a:t>
                </a:r>
                <a:endParaRPr lang="en-IN" sz="1600" dirty="0">
                  <a:latin typeface="Consolas" panose="020B0609020204030204" pitchFamily="49" charset="0"/>
                </a:endParaRPr>
              </a:p>
              <a:p>
                <a:r>
                  <a:rPr lang="en-IN" sz="1800" dirty="0">
                    <a:latin typeface="Consolas" panose="020B0609020204030204" pitchFamily="49" charset="0"/>
                  </a:rPr>
                  <a:t>A likelihood function is generated. </a:t>
                </a:r>
                <a:r>
                  <a:rPr lang="en-US" sz="1800" dirty="0">
                    <a:latin typeface="Consolas" panose="020B0609020204030204" pitchFamily="49" charset="0"/>
                  </a:rPr>
                  <a:t>It measures the support provided by the data for each possible value of the parameter.</a:t>
                </a:r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𝐷𝑎𝑡𝑎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E52578-0F96-90F1-682D-D9AC25D5F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57401"/>
                <a:ext cx="10515600" cy="4351338"/>
              </a:xfrm>
              <a:blipFill>
                <a:blip r:embed="rId2"/>
                <a:stretch>
                  <a:fillRect l="-406" t="-1403" r="-9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C41893E-05E0-0FCF-75F4-636A9ECD9FE2}"/>
              </a:ext>
            </a:extLst>
          </p:cNvPr>
          <p:cNvSpPr txBox="1"/>
          <p:nvPr/>
        </p:nvSpPr>
        <p:spPr>
          <a:xfrm>
            <a:off x="11322447" y="64008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9/13</a:t>
            </a:r>
          </a:p>
        </p:txBody>
      </p:sp>
    </p:spTree>
    <p:extLst>
      <p:ext uri="{BB962C8B-B14F-4D97-AF65-F5344CB8AC3E}">
        <p14:creationId xmlns:p14="http://schemas.microsoft.com/office/powerpoint/2010/main" val="441586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C989-DE55-B694-6E76-AA26D114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0" y="362036"/>
            <a:ext cx="10820400" cy="1293028"/>
          </a:xfrm>
          <a:noFill/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Likelihood Function for Our Case…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515E13-2687-840D-AA0C-1005E35EF4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6384" y="1380744"/>
                <a:ext cx="10820400" cy="52395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,…|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800" b="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Consolas" panose="020B0609020204030204" pitchFamily="49" charset="0"/>
                  </a:rPr>
                  <a:t>These are independent events so can be written as: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sz="1600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sz="1600" dirty="0">
                    <a:latin typeface="Consolas" panose="020B0609020204030204" pitchFamily="49" charset="0"/>
                  </a:rPr>
                  <a:t>…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IN" sz="16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Consolas" panose="020B0609020204030204" pitchFamily="49" charset="0"/>
                  </a:rPr>
                  <a:t>In our case: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(0)]</m:t>
                        </m:r>
                      </m:e>
                      <m:sup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IN" sz="1600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(0)]</m:t>
                        </m:r>
                      </m:e>
                      <m:sup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(0)]</m:t>
                        </m:r>
                      </m:e>
                      <m:sup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IN" sz="1600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  <m:sup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IN" sz="1600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  <m:sup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  <m:sup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sup>
                    </m:sSup>
                  </m:oMath>
                </a14:m>
                <a:endParaRPr lang="en-IN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 =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=0,1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)]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en-IN" sz="1600" dirty="0">
                    <a:latin typeface="Consolas" panose="020B0609020204030204" pitchFamily="49" charset="0"/>
                  </a:rPr>
                  <a:t>Here we know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1600" b="0" i="0" smtClean="0">
                            <a:latin typeface="Consolas" panose="020B0609020204030204" pitchFamily="49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1600" b="0" i="0" smtClean="0">
                            <a:latin typeface="Consolas" panose="020B0609020204030204" pitchFamily="49" charset="0"/>
                            <a:ea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m:rPr>
                        <m:nor/>
                      </m:rPr>
                      <a:rPr lang="en-IN" sz="1600" b="0" i="0" smtClean="0">
                        <a:latin typeface="Consolas" panose="020B0609020204030204" pitchFamily="49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1600" b="0" i="0" smtClean="0">
                        <a:latin typeface="Consolas" panose="020B0609020204030204" pitchFamily="49" charset="0"/>
                        <a:ea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1600" b="0" i="0" smtClean="0">
                            <a:latin typeface="Consolas" panose="020B0609020204030204" pitchFamily="49" charset="0"/>
                            <a:ea typeface="Cambria Math" panose="02040503050406030204" pitchFamily="18" charset="0"/>
                          </a:rPr>
                          <m:t>ρ</m:t>
                        </m:r>
                        <m:d>
                          <m:d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sz="1600" b="0" i="0" smtClean="0">
                                <a:latin typeface="Consolas" panose="020B0609020204030204" pitchFamily="49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  <m:sSubSup>
                          <m:sSubSup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l-GR" sz="1600">
                                <a:latin typeface="Consolas" panose="020B0609020204030204" pitchFamily="49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IN" sz="16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 so,</a:t>
                </a:r>
              </a:p>
              <a:p>
                <a:pPr marL="0" indent="0" algn="just">
                  <a:buNone/>
                </a:pPr>
                <a:r>
                  <a:rPr lang="en-IN" sz="16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 =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=0,1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IN" sz="1600" b="0" i="0" smtClean="0">
                                      <a:latin typeface="Consolas" panose="020B0609020204030204" pitchFamily="49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1600">
                                      <a:latin typeface="Consolas" panose="020B0609020204030204" pitchFamily="49" charset="0"/>
                                      <a:ea typeface="Cambria Math" panose="02040503050406030204" pitchFamily="18" charset="0"/>
                                    </a:rPr>
                                    <m:t>Tr</m:t>
                                  </m:r>
                                  <m:d>
                                    <m:dPr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IN" sz="1600">
                                          <a:latin typeface="Consolas" panose="020B0609020204030204" pitchFamily="49" charset="0"/>
                                          <a:ea typeface="Cambria Math" panose="02040503050406030204" pitchFamily="18" charset="0"/>
                                        </a:rPr>
                                        <m:t>ρ</m:t>
                                      </m:r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IN" sz="1600">
                                              <a:latin typeface="Consolas" panose="020B0609020204030204" pitchFamily="49" charset="0"/>
                                              <a:ea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e>
                                      </m:d>
                                      <m:sSubSup>
                                        <m:sSubSup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l-GR" sz="1600">
                                              <a:latin typeface="Consolas" panose="020B0609020204030204" pitchFamily="49" charset="0"/>
                                              <a:ea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  <m:sup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To maximise this, we differentiate. To simplify the problem we can take a log-likelihood of the function. This is a non-linear optimization problem which can now be solved using Numerical Packages like </a:t>
                </a:r>
                <a:r>
                  <a:rPr lang="en-IN" sz="1600" b="1" dirty="0" err="1">
                    <a:latin typeface="Consolas" panose="020B0609020204030204" pitchFamily="49" charset="0"/>
                    <a:ea typeface="Cambria Math" panose="02040503050406030204" pitchFamily="18" charset="0"/>
                  </a:rPr>
                  <a:t>Scipy</a:t>
                </a:r>
                <a:r>
                  <a:rPr lang="en-IN" sz="1600" b="1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 </a:t>
                </a:r>
                <a:r>
                  <a:rPr lang="en-IN" sz="1600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and guess the correct value of t’s using iteration.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8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=0,1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I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I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I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IN" sz="18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r>
                                        <a:rPr lang="en-I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IN" sz="18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Tr</m:t>
                                      </m:r>
                                      <m:d>
                                        <m:dPr>
                                          <m:ctrlPr>
                                            <a:rPr lang="en-I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IN" sz="18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ρ</m:t>
                                          </m:r>
                                          <m:d>
                                            <m:dPr>
                                              <m:ctrlPr>
                                                <a:rPr lang="en-I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IN" sz="180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e>
                                          </m:d>
                                          <m:sSubSup>
                                            <m:sSubSupPr>
                                              <m:ctrlPr>
                                                <a:rPr lang="en-I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l-GR" sz="180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Π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func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IN" sz="1600" dirty="0"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515E13-2687-840D-AA0C-1005E35EF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6384" y="1380744"/>
                <a:ext cx="10820400" cy="5239512"/>
              </a:xfrm>
              <a:blipFill>
                <a:blip r:embed="rId2"/>
                <a:stretch>
                  <a:fillRect l="-282" r="-2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6B9F79-39D2-16B8-273B-08CBE20B382B}"/>
                  </a:ext>
                </a:extLst>
              </p:cNvPr>
              <p:cNvSpPr txBox="1"/>
              <p:nvPr/>
            </p:nvSpPr>
            <p:spPr>
              <a:xfrm>
                <a:off x="8834102" y="6066258"/>
                <a:ext cx="2772682" cy="55399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𝑀𝐿𝐸</m:t>
                          </m:r>
                        </m:sub>
                      </m:sSub>
                      <m:r>
                        <a:rPr lang="en-I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)))</m:t>
                          </m:r>
                        </m:e>
                      </m:func>
                    </m:oMath>
                  </m:oMathPara>
                </a14:m>
                <a:endParaRPr lang="en-IN" b="0" dirty="0">
                  <a:solidFill>
                    <a:schemeClr val="bg1"/>
                  </a:solidFill>
                </a:endParaRP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</m:t>
                    </m:r>
                    <m:r>
                      <a:rPr lang="en-IN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IN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6B9F79-39D2-16B8-273B-08CBE20B3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102" y="6066258"/>
                <a:ext cx="2772682" cy="553998"/>
              </a:xfrm>
              <a:prstGeom prst="rect">
                <a:avLst/>
              </a:prstGeom>
              <a:blipFill>
                <a:blip r:embed="rId3"/>
                <a:stretch>
                  <a:fillRect r="-1099" b="-10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126C97F-E996-E2A1-63AE-DB6D301031D2}"/>
              </a:ext>
            </a:extLst>
          </p:cNvPr>
          <p:cNvSpPr txBox="1"/>
          <p:nvPr/>
        </p:nvSpPr>
        <p:spPr>
          <a:xfrm>
            <a:off x="250028" y="6435590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10/13</a:t>
            </a:r>
          </a:p>
        </p:txBody>
      </p:sp>
    </p:spTree>
    <p:extLst>
      <p:ext uri="{BB962C8B-B14F-4D97-AF65-F5344CB8AC3E}">
        <p14:creationId xmlns:p14="http://schemas.microsoft.com/office/powerpoint/2010/main" val="1997991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E0BE-0ED4-E9AA-05A9-DB635B4B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879" y="490052"/>
            <a:ext cx="8610600" cy="1293028"/>
          </a:xfrm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A MANUAL MATHEMATICAL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51B603-ADB6-880B-5366-979C08FD05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1600200"/>
                <a:ext cx="8366760" cy="40241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>
                    <a:latin typeface="Consolas" panose="020B0609020204030204" pitchFamily="49" charset="0"/>
                  </a:rPr>
                  <a:t>Reconstruction through a </a:t>
                </a:r>
                <a:r>
                  <a:rPr lang="en-IN" dirty="0" err="1">
                    <a:latin typeface="Consolas" panose="020B0609020204030204" pitchFamily="49" charset="0"/>
                  </a:rPr>
                  <a:t>bloch</a:t>
                </a:r>
                <a:r>
                  <a:rPr lang="en-IN" dirty="0">
                    <a:latin typeface="Consolas" panose="020B0609020204030204" pitchFamily="49" charset="0"/>
                  </a:rPr>
                  <a:t> sphere representation: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Consolas" panose="020B0609020204030204" pitchFamily="49" charset="0"/>
                  </a:rPr>
                  <a:t>On calculating probabilities:</a:t>
                </a:r>
              </a:p>
              <a:p>
                <a:pPr marL="0" indent="0">
                  <a:buNone/>
                </a:pPr>
                <a:endParaRPr lang="en-IN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51B603-ADB6-880B-5366-979C08FD0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1600200"/>
                <a:ext cx="8366760" cy="4024125"/>
              </a:xfrm>
              <a:blipFill>
                <a:blip r:embed="rId2"/>
                <a:stretch>
                  <a:fillRect l="-947" t="-1818" r="-5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04427A-17A6-41E6-6AFD-5E57008818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9177288"/>
                  </p:ext>
                </p:extLst>
              </p:nvPr>
            </p:nvGraphicFramePr>
            <p:xfrm>
              <a:off x="640080" y="3029482"/>
              <a:ext cx="11219052" cy="26954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69842">
                      <a:extLst>
                        <a:ext uri="{9D8B030D-6E8A-4147-A177-3AD203B41FA5}">
                          <a16:colId xmlns:a16="http://schemas.microsoft.com/office/drawing/2014/main" val="1851187176"/>
                        </a:ext>
                      </a:extLst>
                    </a:gridCol>
                    <a:gridCol w="1869842">
                      <a:extLst>
                        <a:ext uri="{9D8B030D-6E8A-4147-A177-3AD203B41FA5}">
                          <a16:colId xmlns:a16="http://schemas.microsoft.com/office/drawing/2014/main" val="2386273599"/>
                        </a:ext>
                      </a:extLst>
                    </a:gridCol>
                    <a:gridCol w="1869842">
                      <a:extLst>
                        <a:ext uri="{9D8B030D-6E8A-4147-A177-3AD203B41FA5}">
                          <a16:colId xmlns:a16="http://schemas.microsoft.com/office/drawing/2014/main" val="2647199635"/>
                        </a:ext>
                      </a:extLst>
                    </a:gridCol>
                    <a:gridCol w="1869842">
                      <a:extLst>
                        <a:ext uri="{9D8B030D-6E8A-4147-A177-3AD203B41FA5}">
                          <a16:colId xmlns:a16="http://schemas.microsoft.com/office/drawing/2014/main" val="3362066735"/>
                        </a:ext>
                      </a:extLst>
                    </a:gridCol>
                    <a:gridCol w="1869842">
                      <a:extLst>
                        <a:ext uri="{9D8B030D-6E8A-4147-A177-3AD203B41FA5}">
                          <a16:colId xmlns:a16="http://schemas.microsoft.com/office/drawing/2014/main" val="1556507494"/>
                        </a:ext>
                      </a:extLst>
                    </a:gridCol>
                    <a:gridCol w="1869842">
                      <a:extLst>
                        <a:ext uri="{9D8B030D-6E8A-4147-A177-3AD203B41FA5}">
                          <a16:colId xmlns:a16="http://schemas.microsoft.com/office/drawing/2014/main" val="3736287073"/>
                        </a:ext>
                      </a:extLst>
                    </a:gridCol>
                  </a:tblGrid>
                  <a:tr h="491326">
                    <a:tc gridSpan="2">
                      <a:txBody>
                        <a:bodyPr/>
                        <a:lstStyle/>
                        <a:p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Z Basis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Y Basis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X Basis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3524079"/>
                      </a:ext>
                    </a:extLst>
                  </a:tr>
                  <a:tr h="4913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0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1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 err="1">
                              <a:latin typeface="Consolas" panose="020B0609020204030204" pitchFamily="49" charset="0"/>
                            </a:rPr>
                            <a:t>i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-</a:t>
                          </a:r>
                          <a:r>
                            <a:rPr lang="en-IN" dirty="0" err="1">
                              <a:latin typeface="Consolas" panose="020B0609020204030204" pitchFamily="49" charset="0"/>
                            </a:rPr>
                            <a:t>i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+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-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5190280"/>
                      </a:ext>
                    </a:extLst>
                  </a:tr>
                  <a:tr h="83971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(0)=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(1)=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e>
                                    <m: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(−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e>
                                    <m: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(+)=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e>
                                  <m:e>
                                    <m: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(−)=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e>
                                  <m:e>
                                    <m:r>
                                      <a:rPr lang="en-I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7926928"/>
                      </a:ext>
                    </a:extLst>
                  </a:tr>
                  <a:tr h="83971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(1+ 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(1)=</m:t>
                                </m:r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(1− 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(1+ 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(−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(1− 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(+)=</m:t>
                                </m:r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(1+ 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(−)=</m:t>
                                </m:r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(1− 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78597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04427A-17A6-41E6-6AFD-5E57008818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9177288"/>
                  </p:ext>
                </p:extLst>
              </p:nvPr>
            </p:nvGraphicFramePr>
            <p:xfrm>
              <a:off x="640080" y="3029482"/>
              <a:ext cx="11219052" cy="26954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69842">
                      <a:extLst>
                        <a:ext uri="{9D8B030D-6E8A-4147-A177-3AD203B41FA5}">
                          <a16:colId xmlns:a16="http://schemas.microsoft.com/office/drawing/2014/main" val="1851187176"/>
                        </a:ext>
                      </a:extLst>
                    </a:gridCol>
                    <a:gridCol w="1869842">
                      <a:extLst>
                        <a:ext uri="{9D8B030D-6E8A-4147-A177-3AD203B41FA5}">
                          <a16:colId xmlns:a16="http://schemas.microsoft.com/office/drawing/2014/main" val="2386273599"/>
                        </a:ext>
                      </a:extLst>
                    </a:gridCol>
                    <a:gridCol w="1869842">
                      <a:extLst>
                        <a:ext uri="{9D8B030D-6E8A-4147-A177-3AD203B41FA5}">
                          <a16:colId xmlns:a16="http://schemas.microsoft.com/office/drawing/2014/main" val="2647199635"/>
                        </a:ext>
                      </a:extLst>
                    </a:gridCol>
                    <a:gridCol w="1869842">
                      <a:extLst>
                        <a:ext uri="{9D8B030D-6E8A-4147-A177-3AD203B41FA5}">
                          <a16:colId xmlns:a16="http://schemas.microsoft.com/office/drawing/2014/main" val="3362066735"/>
                        </a:ext>
                      </a:extLst>
                    </a:gridCol>
                    <a:gridCol w="1869842">
                      <a:extLst>
                        <a:ext uri="{9D8B030D-6E8A-4147-A177-3AD203B41FA5}">
                          <a16:colId xmlns:a16="http://schemas.microsoft.com/office/drawing/2014/main" val="1556507494"/>
                        </a:ext>
                      </a:extLst>
                    </a:gridCol>
                    <a:gridCol w="1869842">
                      <a:extLst>
                        <a:ext uri="{9D8B030D-6E8A-4147-A177-3AD203B41FA5}">
                          <a16:colId xmlns:a16="http://schemas.microsoft.com/office/drawing/2014/main" val="3736287073"/>
                        </a:ext>
                      </a:extLst>
                    </a:gridCol>
                  </a:tblGrid>
                  <a:tr h="491326">
                    <a:tc gridSpan="2">
                      <a:txBody>
                        <a:bodyPr/>
                        <a:lstStyle/>
                        <a:p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Z Basis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Y Basis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X Basis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3524079"/>
                      </a:ext>
                    </a:extLst>
                  </a:tr>
                  <a:tr h="4913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0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1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 err="1">
                              <a:latin typeface="Consolas" panose="020B0609020204030204" pitchFamily="49" charset="0"/>
                            </a:rPr>
                            <a:t>i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-</a:t>
                          </a:r>
                          <a:r>
                            <a:rPr lang="en-IN" dirty="0" err="1">
                              <a:latin typeface="Consolas" panose="020B0609020204030204" pitchFamily="49" charset="0"/>
                            </a:rPr>
                            <a:t>i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+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|</a:t>
                          </a:r>
                          <a:r>
                            <a:rPr lang="en-IN" dirty="0">
                              <a:latin typeface="Consolas" panose="020B0609020204030204" pitchFamily="49" charset="0"/>
                            </a:rPr>
                            <a:t>-</a:t>
                          </a:r>
                          <a:r>
                            <a:rPr lang="el-GR" dirty="0">
                              <a:latin typeface="Consolas" panose="020B0609020204030204" pitchFamily="49" charset="0"/>
                            </a:rPr>
                            <a:t>⟩</a:t>
                          </a:r>
                          <a:endParaRPr lang="en-IN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5190280"/>
                      </a:ext>
                    </a:extLst>
                  </a:tr>
                  <a:tr h="8397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51" t="-121014" r="-500977" b="-1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51" t="-121014" r="-400977" b="-1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51" t="-121014" r="-300977" b="-1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634" t="-121014" r="-201961" b="-1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326" t="-121014" r="-101303" b="-1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326" t="-121014" r="-1303" b="-105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7926928"/>
                      </a:ext>
                    </a:extLst>
                  </a:tr>
                  <a:tr h="8730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51" t="-211806" r="-500977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51" t="-211806" r="-400977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51" t="-211806" r="-300977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634" t="-211806" r="-201961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326" t="-211806" r="-101303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326" t="-211806" r="-1303" b="-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78597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3BF857-D659-4BBF-741D-01926020BCDF}"/>
                  </a:ext>
                </a:extLst>
              </p:cNvPr>
              <p:cNvSpPr txBox="1"/>
              <p:nvPr/>
            </p:nvSpPr>
            <p:spPr>
              <a:xfrm>
                <a:off x="8302752" y="2011680"/>
                <a:ext cx="3538727" cy="789202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=0,1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IN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3BF857-D659-4BBF-741D-01926020B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752" y="2011680"/>
                <a:ext cx="3538727" cy="7892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B601E4-8F10-47AE-D5BF-244B7EE5E21F}"/>
                  </a:ext>
                </a:extLst>
              </p:cNvPr>
              <p:cNvSpPr txBox="1"/>
              <p:nvPr/>
            </p:nvSpPr>
            <p:spPr>
              <a:xfrm>
                <a:off x="640080" y="6108192"/>
                <a:ext cx="11221342" cy="373179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latin typeface="Consolas" panose="020B0609020204030204" pitchFamily="49" charset="0"/>
                  </a:rPr>
                  <a:t>The partial differentiation w.r.t </a:t>
                </a:r>
                <a:r>
                  <a:rPr lang="en-IN" dirty="0" err="1">
                    <a:latin typeface="Consolas" panose="020B0609020204030204" pitchFamily="49" charset="0"/>
                  </a:rPr>
                  <a:t>r</a:t>
                </a:r>
                <a:r>
                  <a:rPr lang="en-IN" baseline="-25000" dirty="0" err="1">
                    <a:latin typeface="Consolas" panose="020B0609020204030204" pitchFamily="49" charset="0"/>
                  </a:rPr>
                  <a:t>x</a:t>
                </a:r>
                <a:r>
                  <a:rPr lang="en-IN" dirty="0">
                    <a:latin typeface="Consolas" panose="020B0609020204030204" pitchFamily="49" charset="0"/>
                  </a:rPr>
                  <a:t>, </a:t>
                </a:r>
                <a:r>
                  <a:rPr lang="en-IN" dirty="0" err="1">
                    <a:latin typeface="Consolas" panose="020B0609020204030204" pitchFamily="49" charset="0"/>
                  </a:rPr>
                  <a:t>r</a:t>
                </a:r>
                <a:r>
                  <a:rPr lang="en-IN" baseline="-25000" dirty="0" err="1">
                    <a:latin typeface="Consolas" panose="020B0609020204030204" pitchFamily="49" charset="0"/>
                  </a:rPr>
                  <a:t>y</a:t>
                </a:r>
                <a:r>
                  <a:rPr lang="en-IN" dirty="0">
                    <a:latin typeface="Consolas" panose="020B0609020204030204" pitchFamily="49" charset="0"/>
                  </a:rPr>
                  <a:t>, </a:t>
                </a:r>
                <a:r>
                  <a:rPr lang="en-IN" dirty="0" err="1">
                    <a:latin typeface="Consolas" panose="020B0609020204030204" pitchFamily="49" charset="0"/>
                  </a:rPr>
                  <a:t>r</a:t>
                </a:r>
                <a:r>
                  <a:rPr lang="en-IN" baseline="-25000" dirty="0" err="1">
                    <a:latin typeface="Consolas" panose="020B0609020204030204" pitchFamily="49" charset="0"/>
                  </a:rPr>
                  <a:t>z</a:t>
                </a:r>
                <a:r>
                  <a:rPr lang="en-IN" dirty="0">
                    <a:latin typeface="Consolas" panose="020B0609020204030204" pitchFamily="49" charset="0"/>
                  </a:rPr>
                  <a:t> and a physical constraint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B601E4-8F10-47AE-D5BF-244B7EE5E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6108192"/>
                <a:ext cx="11221342" cy="373179"/>
              </a:xfrm>
              <a:prstGeom prst="rect">
                <a:avLst/>
              </a:prstGeom>
              <a:blipFill>
                <a:blip r:embed="rId5"/>
                <a:stretch>
                  <a:fillRect l="-435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844D5EB-FD6B-E781-B69F-F3C4E1CFA751}"/>
              </a:ext>
            </a:extLst>
          </p:cNvPr>
          <p:cNvSpPr txBox="1"/>
          <p:nvPr/>
        </p:nvSpPr>
        <p:spPr>
          <a:xfrm>
            <a:off x="0" y="6481371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11/13</a:t>
            </a:r>
          </a:p>
        </p:txBody>
      </p:sp>
    </p:spTree>
    <p:extLst>
      <p:ext uri="{BB962C8B-B14F-4D97-AF65-F5344CB8AC3E}">
        <p14:creationId xmlns:p14="http://schemas.microsoft.com/office/powerpoint/2010/main" val="774093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9831-28E9-BE77-CFBB-CA2A47BEF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Advantage of MLE over </a:t>
            </a:r>
            <a:r>
              <a:rPr lang="en-IN" dirty="0" err="1">
                <a:latin typeface="Consolas" panose="020B0609020204030204" pitchFamily="49" charset="0"/>
              </a:rPr>
              <a:t>bloch</a:t>
            </a:r>
            <a:r>
              <a:rPr lang="en-IN" dirty="0">
                <a:latin typeface="Consolas" panose="020B0609020204030204" pitchFamily="49" charset="0"/>
              </a:rPr>
              <a:t> representation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4CA77-01B6-F172-8058-16616C297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MLE ensures a physical state which is Hermitian, Positive semidefinite, and normalized. Bloch vector representation parameterization doesn’t take into account all the constraints and may return an unphysical matrix </a:t>
            </a:r>
          </a:p>
          <a:p>
            <a:pPr marL="457200" indent="-457200"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MLE can be extended for multi-qubit states and entangled states. The same is not possible for Bloch representation </a:t>
            </a:r>
          </a:p>
          <a:p>
            <a:pPr marL="457200" indent="-457200"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MLE also handles noisy and finite data better.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C6565-0C2B-A4C0-8C12-52BBB29C402D}"/>
              </a:ext>
            </a:extLst>
          </p:cNvPr>
          <p:cNvSpPr txBox="1"/>
          <p:nvPr/>
        </p:nvSpPr>
        <p:spPr>
          <a:xfrm>
            <a:off x="10883535" y="6355844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1503695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64AC6-3FB3-4387-5BBD-B733EA6E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336" y="0"/>
            <a:ext cx="8610600" cy="1293028"/>
          </a:xfrm>
        </p:spPr>
        <p:txBody>
          <a:bodyPr/>
          <a:lstStyle/>
          <a:p>
            <a:r>
              <a:rPr lang="en-IN" dirty="0"/>
              <a:t>Visual Representations </a:t>
            </a:r>
          </a:p>
        </p:txBody>
      </p:sp>
      <p:pic>
        <p:nvPicPr>
          <p:cNvPr id="4" name="Online Media 3" title="Quantum State Tomography Animation">
            <a:hlinkClick r:id="" action="ppaction://media"/>
            <a:extLst>
              <a:ext uri="{FF2B5EF4-FFF2-40B4-BE49-F238E27FC236}">
                <a16:creationId xmlns:a16="http://schemas.microsoft.com/office/drawing/2014/main" id="{66A384B8-6C8B-599D-F1E4-D409963BF64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82753" y="1382129"/>
            <a:ext cx="5955177" cy="3362222"/>
          </a:xfrm>
          <a:prstGeom prst="rect">
            <a:avLst/>
          </a:prstGeom>
        </p:spPr>
      </p:pic>
      <p:pic>
        <p:nvPicPr>
          <p:cNvPr id="5" name="Online Media 4" title="Demo of Quantum State Tomography">
            <a:hlinkClick r:id="" action="ppaction://media"/>
            <a:extLst>
              <a:ext uri="{FF2B5EF4-FFF2-40B4-BE49-F238E27FC236}">
                <a16:creationId xmlns:a16="http://schemas.microsoft.com/office/drawing/2014/main" id="{759D079C-B64D-9DDA-F34E-2E4330D17FF8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229370" y="3063240"/>
            <a:ext cx="5717447" cy="322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4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8672</TotalTime>
  <Words>1066</Words>
  <Application>Microsoft Office PowerPoint</Application>
  <PresentationFormat>Widescreen</PresentationFormat>
  <Paragraphs>153</Paragraphs>
  <Slides>13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Consolas</vt:lpstr>
      <vt:lpstr>Vapor Trail</vt:lpstr>
      <vt:lpstr>Quantum State Tomography</vt:lpstr>
      <vt:lpstr>Generation of identical ensemble of states</vt:lpstr>
      <vt:lpstr>Choosing a measurement basis</vt:lpstr>
      <vt:lpstr>PowerPoint Presentation</vt:lpstr>
      <vt:lpstr>ESTIMATION OF PROBABILITIES</vt:lpstr>
      <vt:lpstr>CONSTRAINTS ON A DENSITY MATRIX</vt:lpstr>
      <vt:lpstr>PowerPoint Presentation</vt:lpstr>
      <vt:lpstr>ASSUMING PARAMETERS ON A DENSITY MATRIX</vt:lpstr>
      <vt:lpstr>Maximum Likelihood Estimation </vt:lpstr>
      <vt:lpstr>Likelihood Function for Our Case…</vt:lpstr>
      <vt:lpstr>A MANUAL MATHEMATICAL APPROACH</vt:lpstr>
      <vt:lpstr>Advantage of MLE over bloch representation </vt:lpstr>
      <vt:lpstr>Visual Representations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Roohi Verma</dc:creator>
  <cp:lastModifiedBy>Roohi Verma</cp:lastModifiedBy>
  <cp:revision>37</cp:revision>
  <dcterms:created xsi:type="dcterms:W3CDTF">2025-07-10T20:32:00Z</dcterms:created>
  <dcterms:modified xsi:type="dcterms:W3CDTF">2025-08-15T04:15:37Z</dcterms:modified>
</cp:coreProperties>
</file>